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78F781-1C91-44C9-8135-8FB98A0C8E1D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6300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6300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TimeTableX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3C847C-C5A4-45B4-9559-540B043516E5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103822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 dirty="0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Automated University </a:t>
            </a:r>
            <a:r>
              <a:rPr lang="en-US" sz="2850" b="0" dirty="0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Class </a:t>
            </a:r>
            <a:r>
              <a:rPr sz="2850" b="0" dirty="0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Routine</a:t>
            </a:r>
          </a:p>
          <a:p>
            <a:pPr algn="l">
              <a:defRPr sz="2850" b="0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850" b="0" dirty="0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Generator and Optimizer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0B0926-4AE8-4D96-8357-DBD4F8CBDCD4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C2CFDF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C2CFDF"/>
                </a:solidFill>
                <a:latin typeface="Nimbus Sans"/>
                <a:ea typeface="Nimbus Sans"/>
                <a:cs typeface="Nimbus Sans"/>
              </a:rPr>
              <a:t>SPL-1 Project Proposal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0B8BC3-A1AD-480F-AD08-1CA1B9693EBD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Mohammad Seraz Alam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A1EF0-FBE9-4E30-A650-0E950DD62A54}"/>
              </a:ext>
            </a:extLst>
          </p:cNvPr>
          <p:cNvSpPr>
            <a:spLocks noGrp="1"/>
          </p:cNvSpPr>
          <p:nvPr/>
        </p:nvSpPr>
        <p:spPr>
          <a:xfrm>
            <a:off x="723900" y="54102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C2CFDF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C2CFDF"/>
                </a:solidFill>
                <a:latin typeface="Nimbus Sans"/>
                <a:ea typeface="Nimbus Sans"/>
                <a:cs typeface="Nimbus Sans"/>
              </a:rPr>
              <a:t>Institute of Information Technology</a:t>
            </a:r>
          </a:p>
          <a:p>
            <a:pPr algn="l">
              <a:defRPr sz="1950" b="0">
                <a:solidFill>
                  <a:srgbClr val="C2CFDF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C2CFDF"/>
                </a:solidFill>
                <a:latin typeface="Nimbus Sans"/>
                <a:ea typeface="Nimbus Sans"/>
                <a:cs typeface="Nimbus Sans"/>
              </a:rPr>
              <a:t>University of Dhaka</a:t>
            </a:r>
          </a:p>
        </p:txBody>
      </p:sp>
    </p:spTree>
    <p:extLst>
      <p:ext uri="{BB962C8B-B14F-4D97-AF65-F5344CB8AC3E}">
        <p14:creationId xmlns:p14="http://schemas.microsoft.com/office/powerpoint/2010/main" val="1642244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FB42C8-CFA6-42E5-A7E5-F17F22242F34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Why TimeTableX?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F98085-190E-44A6-BDF9-A8DEF6254C5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3200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66700" indent="-165100" algn="l">
              <a:spcAft>
                <a:spcPts val="20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Manual routine preparation is time-consuming</a:t>
            </a:r>
          </a:p>
          <a:p>
            <a:pPr marL="266700" indent="-165100" algn="l">
              <a:spcAft>
                <a:spcPts val="20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Scheduling conflicts are difficult to avoid manually</a:t>
            </a:r>
          </a:p>
          <a:p>
            <a:pPr marL="266700" indent="-165100" algn="l">
              <a:spcAft>
                <a:spcPts val="20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Multiple teachers, batches, rooms and constraints make scheduling complex</a:t>
            </a:r>
          </a:p>
          <a:p>
            <a:pPr marL="266700" indent="-165100" algn="l">
              <a:spcAft>
                <a:spcPts val="20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Routine modification becomes difficult when requirements change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6E5AE-E18A-4B82-A34E-2C959E378DED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Need: A systematic way to generate valid</a:t>
            </a:r>
          </a:p>
          <a:p>
            <a:pPr algn="l">
              <a:defRPr sz="2550" b="1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university routines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603599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B3CF1A-960D-43CA-BDAA-5308C006D177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AEC28-F720-466D-A3DE-494728693D92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Automatically generate a conflict-free timetable</a:t>
            </a:r>
          </a:p>
          <a:p>
            <a:pPr algn="l">
              <a:defRPr sz="2400" b="0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400" b="0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from academic requirements and constraints.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B2EE6F-247B-4B94-8879-1A85CD7C3E27}"/>
              </a:ext>
            </a:extLst>
          </p:cNvPr>
          <p:cNvSpPr>
            <a:spLocks noGrp="1"/>
          </p:cNvSpPr>
          <p:nvPr/>
        </p:nvSpPr>
        <p:spPr>
          <a:xfrm>
            <a:off x="685800" y="2600325"/>
            <a:ext cx="523875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66700" indent="-165100" algn="l">
              <a:spcAft>
                <a:spcPts val="1400"/>
              </a:spcAft>
              <a:buChar char="•"/>
              <a:defRPr sz="225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Automatic Routine Generation</a:t>
            </a:r>
          </a:p>
          <a:p>
            <a:pPr marL="266700" indent="-165100" algn="l">
              <a:spcAft>
                <a:spcPts val="1400"/>
              </a:spcAft>
              <a:buChar char="•"/>
              <a:defRPr sz="225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Teacher Clash Prevention</a:t>
            </a:r>
          </a:p>
          <a:p>
            <a:pPr marL="266700" indent="-165100" algn="l">
              <a:spcAft>
                <a:spcPts val="1400"/>
              </a:spcAft>
              <a:buChar char="•"/>
              <a:defRPr sz="225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Batch Clash Prevention</a:t>
            </a:r>
          </a:p>
          <a:p>
            <a:pPr marL="266700" indent="-165100" algn="l">
              <a:spcAft>
                <a:spcPts val="1400"/>
              </a:spcAft>
              <a:buChar char="•"/>
              <a:defRPr sz="225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Room Clash Prevention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CCB93-C788-4A26-BC33-8F04D249EE5A}"/>
              </a:ext>
            </a:extLst>
          </p:cNvPr>
          <p:cNvSpPr>
            <a:spLocks noGrp="1"/>
          </p:cNvSpPr>
          <p:nvPr/>
        </p:nvSpPr>
        <p:spPr>
          <a:xfrm>
            <a:off x="6534150" y="2600325"/>
            <a:ext cx="497205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66700" indent="-165100" algn="l">
              <a:spcAft>
                <a:spcPts val="1400"/>
              </a:spcAft>
              <a:buChar char="•"/>
              <a:defRPr sz="225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Teacher Availability Handling</a:t>
            </a:r>
          </a:p>
          <a:p>
            <a:pPr marL="266700" indent="-165100" algn="l">
              <a:spcAft>
                <a:spcPts val="1400"/>
              </a:spcAft>
              <a:buChar char="•"/>
              <a:defRPr sz="225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Lecture &amp; Consecutive Lab Scheduling</a:t>
            </a:r>
          </a:p>
          <a:p>
            <a:pPr marL="266700" indent="-165100" algn="l">
              <a:spcAft>
                <a:spcPts val="1400"/>
              </a:spcAft>
              <a:buChar char="•"/>
              <a:defRPr sz="225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Routine Optimization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F7960-9ECC-4BAF-A744-B7A77741EC61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133850" cy="1123950"/>
          </a:xfrm>
          <a:prstGeom prst="rect">
            <a:avLst/>
          </a:prstGeom>
          <a:solidFill>
            <a:srgbClr val="0B1424"/>
          </a:solidFill>
          <a:ln w="14288">
            <a:solidFill>
              <a:srgbClr val="28415D"/>
            </a:solidFill>
          </a:ln>
        </p:spPr>
        <p:txBody>
          <a:bodyPr lIns="133350" tIns="95250" rIns="133350" bIns="95250" anchor="ctr">
            <a:noAutofit/>
          </a:bodyPr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900395-10EC-46C5-AE68-B8129EC9828C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37528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Input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E26BE6-5343-4DB3-98A7-7248FC70D94A}"/>
              </a:ext>
            </a:extLst>
          </p:cNvPr>
          <p:cNvSpPr>
            <a:spLocks noGrp="1"/>
          </p:cNvSpPr>
          <p:nvPr/>
        </p:nvSpPr>
        <p:spPr>
          <a:xfrm>
            <a:off x="838200" y="5772150"/>
            <a:ext cx="3829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C2CFDF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C2CFDF"/>
                </a:solidFill>
                <a:latin typeface="Nimbus Sans"/>
                <a:ea typeface="Nimbus Sans"/>
                <a:cs typeface="Nimbus Sans"/>
              </a:rPr>
              <a:t>Teachers • Courses • Rooms</a:t>
            </a:r>
          </a:p>
          <a:p>
            <a:pPr algn="ctr">
              <a:defRPr sz="1800" b="0">
                <a:solidFill>
                  <a:srgbClr val="C2CFDF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C2CFDF"/>
                </a:solidFill>
                <a:latin typeface="Nimbus Sans"/>
                <a:ea typeface="Nimbus Sans"/>
                <a:cs typeface="Nimbus Sans"/>
              </a:rPr>
              <a:t>Batches • Constraints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5ACBF-9F03-4835-8B28-2D82D3B79116}"/>
              </a:ext>
            </a:extLst>
          </p:cNvPr>
          <p:cNvSpPr>
            <a:spLocks noGrp="1"/>
          </p:cNvSpPr>
          <p:nvPr/>
        </p:nvSpPr>
        <p:spPr>
          <a:xfrm>
            <a:off x="4962525" y="5514975"/>
            <a:ext cx="552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300" b="0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3300" b="0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69A5C-0355-48DE-8657-A2E9E01B57BD}"/>
              </a:ext>
            </a:extLst>
          </p:cNvPr>
          <p:cNvSpPr>
            <a:spLocks noGrp="1"/>
          </p:cNvSpPr>
          <p:nvPr/>
        </p:nvSpPr>
        <p:spPr>
          <a:xfrm>
            <a:off x="5638800" y="5219700"/>
            <a:ext cx="2714625" cy="1123950"/>
          </a:xfrm>
          <a:prstGeom prst="rect">
            <a:avLst/>
          </a:prstGeom>
          <a:solidFill>
            <a:srgbClr val="102C46"/>
          </a:solidFill>
          <a:ln w="14288">
            <a:solidFill>
              <a:srgbClr val="55D6F5"/>
            </a:solidFill>
          </a:ln>
        </p:spPr>
        <p:txBody>
          <a:bodyPr lIns="133350" tIns="95250" rIns="133350" bIns="95250" anchor="ctr">
            <a:noAutofit/>
          </a:bodyPr>
          <a:lstStyle/>
          <a:p>
            <a:pPr algn="ctr">
              <a:defRPr sz="2175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TimeTableX Engine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BD9E95-9990-4671-9BBD-44E59C4F2BB0}"/>
              </a:ext>
            </a:extLst>
          </p:cNvPr>
          <p:cNvSpPr>
            <a:spLocks noGrp="1"/>
          </p:cNvSpPr>
          <p:nvPr/>
        </p:nvSpPr>
        <p:spPr>
          <a:xfrm>
            <a:off x="8496300" y="5514975"/>
            <a:ext cx="552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300" b="0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3300" b="0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CA57CA-B8C5-4DD3-AE21-A510BCC90A3F}"/>
              </a:ext>
            </a:extLst>
          </p:cNvPr>
          <p:cNvSpPr>
            <a:spLocks noGrp="1"/>
          </p:cNvSpPr>
          <p:nvPr/>
        </p:nvSpPr>
        <p:spPr>
          <a:xfrm>
            <a:off x="9191625" y="5219700"/>
            <a:ext cx="2314575" cy="1123950"/>
          </a:xfrm>
          <a:prstGeom prst="rect">
            <a:avLst/>
          </a:prstGeom>
          <a:solidFill>
            <a:srgbClr val="0B1424"/>
          </a:solidFill>
          <a:ln w="14288">
            <a:solidFill>
              <a:srgbClr val="28415D"/>
            </a:solidFill>
          </a:ln>
        </p:spPr>
        <p:txBody>
          <a:bodyPr lIns="133350" tIns="95250" rIns="133350" bIns="95250" anchor="ctr">
            <a:noAutofit/>
          </a:bodyPr>
          <a:lstStyle/>
          <a:p>
            <a:pPr algn="ctr">
              <a:defRPr sz="2175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Optimized</a:t>
            </a:r>
          </a:p>
          <a:p>
            <a:pPr algn="ctr">
              <a:defRPr sz="2175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Routine</a:t>
            </a:r>
          </a:p>
        </p:txBody>
      </p:sp>
    </p:spTree>
    <p:extLst>
      <p:ext uri="{BB962C8B-B14F-4D97-AF65-F5344CB8AC3E}">
        <p14:creationId xmlns:p14="http://schemas.microsoft.com/office/powerpoint/2010/main" val="277727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0118F8A-5BB3-48DB-95C6-3478265872A6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7442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3600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Target Users &amp; Technical Approach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14BBD6-138A-4070-BD38-3274DB5ED7E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496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1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Target Users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7CE052-02ED-4D31-8C88-98A3A9D8F18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64960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University Departments • Academic Coordinators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DF1976-446A-4061-9C6B-40C7FA800D27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64960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Routine Management Committees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CA7E21-4FAE-4332-AEFC-CA458CF0622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6496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1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Core 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80828-E89D-47D5-A404-A43863C98B2B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64960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C++17 • STL • Object-Oriented Programming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F0D6A2-3792-43CE-AA38-30B0801C4413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6496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2025" b="1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Algorithms / Scheduling Approach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D88773-ABB6-4A4C-8965-070346227E6D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64960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Constraint Checking • Backtracking 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10F039-2D5C-482D-AAE3-C7280CF736B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64960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MRV / Heuristic Selection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E2CFD-4895-4B66-A420-C6095DF5DAD1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64960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Routine Optimization Heuristics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F005DC-8A0F-432A-A103-3FEE12C6E6E8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6496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75" b="1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Development Tools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64AA37-F750-422E-93FD-8A5B486C8E6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64960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CMake • Git &amp; GitHub • Qt (Planned GUI)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3D19B5-0907-4589-84B7-C419A213BE80}"/>
              </a:ext>
            </a:extLst>
          </p:cNvPr>
          <p:cNvSpPr>
            <a:spLocks noGrp="1"/>
          </p:cNvSpPr>
          <p:nvPr/>
        </p:nvSpPr>
        <p:spPr>
          <a:xfrm>
            <a:off x="7400925" y="1657350"/>
            <a:ext cx="4400550" cy="4267200"/>
          </a:xfrm>
          <a:prstGeom prst="rect">
            <a:avLst/>
          </a:prstGeom>
          <a:solidFill>
            <a:srgbClr val="101D2E"/>
          </a:solidFill>
          <a:ln w="9525">
            <a:solidFill>
              <a:srgbClr val="284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05700" y="1821703"/>
            <a:ext cx="4191000" cy="334479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C458359-77D8-4387-8061-E589B4D8AFA8}"/>
              </a:ext>
            </a:extLst>
          </p:cNvPr>
          <p:cNvSpPr>
            <a:spLocks noGrp="1"/>
          </p:cNvSpPr>
          <p:nvPr/>
        </p:nvSpPr>
        <p:spPr>
          <a:xfrm>
            <a:off x="7524750" y="5343525"/>
            <a:ext cx="40481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575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Early CLI Prototype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A68496-3D91-4197-895F-38523A933C0A}"/>
              </a:ext>
            </a:extLst>
          </p:cNvPr>
          <p:cNvSpPr>
            <a:spLocks noGrp="1"/>
          </p:cNvSpPr>
          <p:nvPr/>
        </p:nvSpPr>
        <p:spPr>
          <a:xfrm>
            <a:off x="7524750" y="5629275"/>
            <a:ext cx="4048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>
            <a:noAutofit/>
          </a:bodyPr>
          <a:lstStyle/>
          <a:p>
            <a:pPr>
              <a:defRPr sz="1275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1275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Current: C++ CLI  →  Planned: Qt GUI</a:t>
            </a:r>
          </a:p>
        </p:txBody>
      </p:sp>
    </p:spTree>
    <p:extLst>
      <p:ext uri="{BB962C8B-B14F-4D97-AF65-F5344CB8AC3E}">
        <p14:creationId xmlns:p14="http://schemas.microsoft.com/office/powerpoint/2010/main" val="1399529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F3FBF4-F871-4D2A-900E-F2EACF09B850}"/>
              </a:ext>
            </a:extLst>
          </p:cNvPr>
          <p:cNvSpPr>
            <a:spLocks noGrp="1"/>
          </p:cNvSpPr>
          <p:nvPr/>
        </p:nvSpPr>
        <p:spPr>
          <a:xfrm>
            <a:off x="685800" y="5238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>
                <a:solidFill>
                  <a:srgbClr val="F5F8FC"/>
                </a:solidFill>
                <a:latin typeface="Nimbus Sans"/>
                <a:ea typeface="Nimbus Sans"/>
                <a:cs typeface="Nimbus Sans"/>
              </a:rPr>
              <a:t>Expected Outcome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6692F3-3116-4B3F-A30D-1AF3CED18703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10820400" cy="3314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66700" indent="-165100" algn="l">
              <a:spcAft>
                <a:spcPts val="14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Accept university scheduling data</a:t>
            </a:r>
          </a:p>
          <a:p>
            <a:pPr marL="266700" indent="-165100" algn="l">
              <a:spcAft>
                <a:spcPts val="14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Generate a valid weekly routine</a:t>
            </a:r>
          </a:p>
          <a:p>
            <a:pPr marL="266700" indent="-165100" algn="l">
              <a:spcAft>
                <a:spcPts val="14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Detect and prevent scheduling conflicts</a:t>
            </a:r>
          </a:p>
          <a:p>
            <a:pPr marL="266700" indent="-165100" algn="l">
              <a:spcAft>
                <a:spcPts val="14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Handle academic constraints</a:t>
            </a:r>
          </a:p>
          <a:p>
            <a:pPr marL="266700" indent="-165100" algn="l">
              <a:spcAft>
                <a:spcPts val="14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Optimize the generated timetable</a:t>
            </a:r>
          </a:p>
          <a:p>
            <a:pPr marL="266700" indent="-165100" algn="l">
              <a:spcAft>
                <a:spcPts val="1400"/>
              </a:spcAft>
              <a:buChar char="•"/>
              <a:defRPr sz="2400" b="0">
                <a:solidFill>
                  <a:srgbClr val="F5F8FC"/>
                </a:solidFill>
                <a:latin typeface="Nimbus Sans"/>
                <a:ea typeface="Nimbus Sans"/>
                <a:cs typeface="Nimbus Sans"/>
              </a:defRPr>
            </a:pPr>
            <a:r>
              <a:t>Display/save the final routine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3BCA6-ED57-4343-808C-A60193C8AD42}"/>
              </a:ext>
            </a:extLst>
          </p:cNvPr>
          <p:cNvSpPr>
            <a:spLocks noGrp="1"/>
          </p:cNvSpPr>
          <p:nvPr/>
        </p:nvSpPr>
        <p:spPr>
          <a:xfrm>
            <a:off x="685800" y="5400675"/>
            <a:ext cx="108204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A functional C++-based university timetable</a:t>
            </a:r>
          </a:p>
          <a:p>
            <a:pPr algn="l">
              <a:defRPr sz="2550" b="1">
                <a:solidFill>
                  <a:srgbClr val="55D6F5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55D6F5"/>
                </a:solidFill>
                <a:latin typeface="Nimbus Sans"/>
                <a:ea typeface="Nimbus Sans"/>
                <a:cs typeface="Nimbus Sans"/>
              </a:rPr>
              <a:t>generation and optimization system.</a:t>
            </a:r>
          </a:p>
        </p:txBody>
      </p:sp>
    </p:spTree>
    <p:extLst>
      <p:ext uri="{BB962C8B-B14F-4D97-AF65-F5344CB8AC3E}">
        <p14:creationId xmlns:p14="http://schemas.microsoft.com/office/powerpoint/2010/main" val="24171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DocSecurity>0</DocSecurity>
  <PresentationFormat>Widescreen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Nimbus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Mohammad Seraz Alam Raihan</cp:lastModifiedBy>
  <cp:revision>2</cp:revision>
  <dcterms:created xsi:type="dcterms:W3CDTF">2026-09-23T19:21:32Z</dcterms:created>
  <dcterms:modified xsi:type="dcterms:W3CDTF">2026-09-23T20:42:36Z</dcterms:modified>
</cp:coreProperties>
</file>